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1" r:id="rId4"/>
    <p:sldId id="259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2ABB"/>
    <a:srgbClr val="A07400"/>
    <a:srgbClr val="DC4633"/>
    <a:srgbClr val="DDDDDD"/>
    <a:srgbClr val="F0C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44"/>
    <p:restoredTop sz="94674"/>
  </p:normalViewPr>
  <p:slideViewPr>
    <p:cSldViewPr snapToGrid="0">
      <p:cViewPr varScale="1">
        <p:scale>
          <a:sx n="124" d="100"/>
          <a:sy n="124" d="100"/>
        </p:scale>
        <p:origin x="110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241A5-8370-5744-94F7-BD6591B80649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9CCBC-B453-0D44-A913-4AC2DFAABB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01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9CCBC-B453-0D44-A913-4AC2DFAABBD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35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BB24-482A-04C0-0E0D-400B2CD6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D2206-457D-F8C3-66FF-91765AC6A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A8352-5D1A-CA68-97C5-3C269397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B87F-C1A2-E3FC-12C2-388A43B4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E511E-80F4-B6C4-894C-154ABEDF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5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7748-13F9-1A93-6169-1DF9E8E0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4BB7-A171-BE5C-C857-D296939A0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1DFAF-02D6-C44A-7099-B4303A43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D9A3B-B246-E470-F101-2F39AC7F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3D011-9514-764C-9EA7-4FD2AA49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68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0EDC-B46C-CCC0-1CFA-6E6504BF4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8B304-D687-C33B-D2EA-0FEC1915D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AD77-4FFC-9E2D-4932-37B82AC3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270F3-3885-561A-3144-C4E824D7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7B78-5284-64C3-4FB5-52D6CA89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899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9608-7970-47FA-118F-4EEEA1CD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49D9-D40D-8E8B-398E-C6B1CFA39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42696-8164-2B0D-903B-0AAB91464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89644-70AF-8A51-627C-2F827960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DAFDA-4388-DE0F-C9C1-E4662CFA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453C1-D0AA-DDA2-5253-494859A6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97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24BD-1102-9A9C-68DA-793AA86A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F4A79-64FE-C98B-F724-8C717A4D0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7E291-8654-1E51-B8E9-2AADC9AE0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AB540-11B5-ED06-4779-C1B29D688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D6A4D-9099-9AAF-6769-570ED42FD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417B73-48BF-FA77-6ABA-4F07D383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61A6B-3B77-8CB5-C0F7-E19DB581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FCD96-6284-1B35-EEED-B2E807C4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97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6DBE-01ED-9F90-9775-E32CD01C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F4953-C8B5-19D0-545F-98D84BF9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762C5-1BC5-2AD2-CF61-7F3C0A74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40BC3-F425-CA1D-AAF7-277E959B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02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33D86-BE00-3AFD-21BD-0DCF6D265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A12E57-378C-B574-EE3A-DF2DC795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11928-C5C3-60AD-65D5-61BCC19C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63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ACB7-8662-9083-6F8A-B28819D7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A09AB-5B76-4449-8296-D195D5682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B81DB-0044-4369-5C73-38A76B90E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43EE1-45F7-B46C-EEC0-8A2DA1B0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17748-D207-290F-9545-902506063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52E77-5A73-1F34-1EA9-512590CF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81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0315E-02C3-5FC8-46E2-96063307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27487-0628-D6EE-F2B9-5995F0AE2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A4D5C-B960-53AB-71E1-AEE2C3A3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37D9C-0744-196D-AB0D-CA2ED38F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981D1-A532-8FB5-2DBF-541B89BEB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4EDC9-744F-6D24-D5D9-672FC7CE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52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8A6D-20BA-1EA2-24C7-21E0F7F4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12434-A27F-2181-EC76-DB5DA609D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C7441-699E-72BB-5E0E-C323BD7A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03F43-A4EE-6494-ED43-E584B64F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5F7B-19B5-D0EA-2D68-6315B605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08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5E9FF-0F1E-3D10-1AB5-D49BEE31B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C3FAF-6925-2EC0-5231-A982CE11C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83C1C-C8A8-715D-7A5E-16CA907D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40E69-BB7C-8154-5308-C49715891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502C4-C2DC-5A44-0834-83AF07F6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61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C138C-E636-0238-80D7-B5F96A1B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4FAF5-60DD-02A6-217F-8B19A8090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B793-39E4-7C51-632E-03E410FE7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73A42-D098-3A42-967C-7E956F1617EF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E5E7-AE80-2798-6214-539DB50AA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C6F5-DB27-88CA-46F8-946573393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22F3D-B5AA-0448-8661-15262F0F72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5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9399-0B2E-86B3-003F-F08109A1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Topics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FE89A-3B8C-4BD2-9460-8D19B5C8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Java I/O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Streams</a:t>
            </a:r>
          </a:p>
          <a:p>
            <a:pPr lvl="2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Byte, character, Buffer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Console I/O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File I/O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Regular Expressions – “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RegEx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Finite State Machines (FSMs)</a:t>
            </a:r>
          </a:p>
          <a:p>
            <a:pPr lvl="1"/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21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D9AB-7E6E-D2AF-DE17-8D83EB33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4B44-AC97-ECA9-3BBD-7604A8FC2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Byte Streams</a:t>
            </a:r>
          </a:p>
          <a:p>
            <a:pPr lvl="1"/>
            <a:r>
              <a:rPr lang="en-GB" dirty="0"/>
              <a:t>Raw data – no particular type of data</a:t>
            </a:r>
          </a:p>
          <a:p>
            <a:pPr lvl="1"/>
            <a:r>
              <a:rPr lang="en-GB" dirty="0"/>
              <a:t>Audio, video, binary files, images (PNG, JPEG), etc. </a:t>
            </a:r>
          </a:p>
          <a:p>
            <a:r>
              <a:rPr lang="en-GB" dirty="0"/>
              <a:t>Character Streams</a:t>
            </a:r>
          </a:p>
          <a:p>
            <a:pPr lvl="1"/>
            <a:r>
              <a:rPr lang="en-GB" dirty="0"/>
              <a:t>For reading text data one character at a time</a:t>
            </a:r>
          </a:p>
          <a:p>
            <a:pPr lvl="1"/>
            <a:r>
              <a:rPr lang="en-GB" dirty="0"/>
              <a:t>Each character I/O access the file/stream – lots of overhead!</a:t>
            </a:r>
          </a:p>
          <a:p>
            <a:pPr lvl="1"/>
            <a:r>
              <a:rPr lang="en-GB" dirty="0"/>
              <a:t>There are character streams for the Console and separate ones for Files</a:t>
            </a:r>
          </a:p>
          <a:p>
            <a:r>
              <a:rPr lang="en-GB" dirty="0"/>
              <a:t>Buffered Streams</a:t>
            </a:r>
          </a:p>
          <a:p>
            <a:pPr lvl="1"/>
            <a:r>
              <a:rPr lang="en-GB" dirty="0"/>
              <a:t>Optimized character streams – stores data in a buffer and only access the stream once</a:t>
            </a:r>
          </a:p>
          <a:p>
            <a:pPr lvl="1"/>
            <a:r>
              <a:rPr lang="en-GB" dirty="0"/>
              <a:t>Ex. used to read/write entire lines to files. </a:t>
            </a:r>
          </a:p>
        </p:txBody>
      </p:sp>
    </p:spTree>
    <p:extLst>
      <p:ext uri="{BB962C8B-B14F-4D97-AF65-F5344CB8AC3E}">
        <p14:creationId xmlns:p14="http://schemas.microsoft.com/office/powerpoint/2010/main" val="322956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D9AB-7E6E-D2AF-DE17-8D83EB33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4B44-AC97-ECA9-3BBD-7604A8FC2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4764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Byte Streams</a:t>
            </a:r>
          </a:p>
          <a:p>
            <a:pPr lvl="1"/>
            <a:r>
              <a:rPr lang="en-GB" sz="2200" dirty="0"/>
              <a:t>Abstract Classes: </a:t>
            </a:r>
            <a:r>
              <a:rPr lang="en-GB" sz="2200" dirty="0" err="1">
                <a:solidFill>
                  <a:srgbClr val="7030A0"/>
                </a:solidFill>
              </a:rPr>
              <a:t>InputStream</a:t>
            </a:r>
            <a:r>
              <a:rPr lang="en-GB" sz="2200" dirty="0"/>
              <a:t>, </a:t>
            </a:r>
            <a:r>
              <a:rPr lang="en-GB" sz="2200" dirty="0" err="1">
                <a:solidFill>
                  <a:srgbClr val="7030A0"/>
                </a:solidFill>
              </a:rPr>
              <a:t>OutputStream</a:t>
            </a:r>
            <a:endParaRPr lang="en-GB" sz="2200" dirty="0">
              <a:solidFill>
                <a:srgbClr val="7030A0"/>
              </a:solidFill>
            </a:endParaRPr>
          </a:p>
          <a:p>
            <a:pPr lvl="1"/>
            <a:r>
              <a:rPr lang="en-GB" sz="2200" dirty="0"/>
              <a:t>Examples: </a:t>
            </a:r>
            <a:r>
              <a:rPr lang="en-GB" sz="2200" dirty="0" err="1">
                <a:solidFill>
                  <a:schemeClr val="accent2"/>
                </a:solidFill>
              </a:rPr>
              <a:t>System.In</a:t>
            </a:r>
            <a:r>
              <a:rPr lang="en-GB" sz="2200" dirty="0"/>
              <a:t> (for console input), </a:t>
            </a:r>
            <a:r>
              <a:rPr lang="en-GB" sz="2200" dirty="0" err="1">
                <a:solidFill>
                  <a:schemeClr val="accent2"/>
                </a:solidFill>
              </a:rPr>
              <a:t>FileInputStream</a:t>
            </a:r>
            <a:r>
              <a:rPr lang="en-GB" sz="2200" dirty="0"/>
              <a:t>, </a:t>
            </a:r>
            <a:r>
              <a:rPr lang="en-GB" sz="2200" dirty="0" err="1">
                <a:solidFill>
                  <a:schemeClr val="accent2"/>
                </a:solidFill>
              </a:rPr>
              <a:t>FileoutStream</a:t>
            </a:r>
            <a:endParaRPr lang="en-GB" sz="2200" dirty="0">
              <a:solidFill>
                <a:schemeClr val="accent2"/>
              </a:solidFill>
            </a:endParaRPr>
          </a:p>
          <a:p>
            <a:r>
              <a:rPr lang="en-GB" dirty="0"/>
              <a:t>Character Streams</a:t>
            </a:r>
          </a:p>
          <a:p>
            <a:pPr lvl="1"/>
            <a:r>
              <a:rPr lang="en-GB" sz="2200" dirty="0"/>
              <a:t>Abstract Classes: </a:t>
            </a:r>
            <a:r>
              <a:rPr lang="en-GB" sz="2200" dirty="0">
                <a:solidFill>
                  <a:srgbClr val="7030A0"/>
                </a:solidFill>
              </a:rPr>
              <a:t>Reader</a:t>
            </a:r>
            <a:r>
              <a:rPr lang="en-GB" sz="2200" dirty="0"/>
              <a:t>, </a:t>
            </a:r>
            <a:r>
              <a:rPr lang="en-GB" sz="2200" dirty="0">
                <a:solidFill>
                  <a:srgbClr val="7030A0"/>
                </a:solidFill>
              </a:rPr>
              <a:t>Writer</a:t>
            </a:r>
          </a:p>
          <a:p>
            <a:pPr lvl="1"/>
            <a:r>
              <a:rPr lang="en-GB" sz="2200" dirty="0"/>
              <a:t>Examples: </a:t>
            </a:r>
            <a:r>
              <a:rPr lang="en-GB" sz="2200" dirty="0" err="1">
                <a:solidFill>
                  <a:schemeClr val="accent2"/>
                </a:solidFill>
              </a:rPr>
              <a:t>InputStreamReader</a:t>
            </a:r>
            <a:r>
              <a:rPr lang="en-GB" sz="2200" dirty="0"/>
              <a:t>(</a:t>
            </a:r>
            <a:r>
              <a:rPr lang="en-GB" sz="2200" dirty="0" err="1"/>
              <a:t>InputStream</a:t>
            </a:r>
            <a:r>
              <a:rPr lang="en-GB" sz="2200" dirty="0"/>
              <a:t> in), </a:t>
            </a:r>
            <a:r>
              <a:rPr lang="en-GB" sz="2200" dirty="0" err="1">
                <a:solidFill>
                  <a:schemeClr val="accent2"/>
                </a:solidFill>
              </a:rPr>
              <a:t>FileReader</a:t>
            </a:r>
            <a:r>
              <a:rPr lang="en-GB" sz="2200" dirty="0"/>
              <a:t>, …out equivalents</a:t>
            </a:r>
          </a:p>
          <a:p>
            <a:r>
              <a:rPr lang="en-GB" dirty="0"/>
              <a:t>Buffered Streams</a:t>
            </a:r>
          </a:p>
          <a:p>
            <a:pPr lvl="1"/>
            <a:r>
              <a:rPr lang="en-GB" sz="2200" dirty="0"/>
              <a:t>Stores data in a buffer and only access the stream once - used to read/write entire lines</a:t>
            </a:r>
          </a:p>
          <a:p>
            <a:pPr lvl="1"/>
            <a:r>
              <a:rPr lang="en-GB" sz="2200" dirty="0"/>
              <a:t>Character Streams: </a:t>
            </a:r>
            <a:r>
              <a:rPr lang="en-GB" sz="2200" dirty="0" err="1">
                <a:solidFill>
                  <a:srgbClr val="7030A0"/>
                </a:solidFill>
              </a:rPr>
              <a:t>BufferedReader</a:t>
            </a:r>
            <a:r>
              <a:rPr lang="en-GB" sz="2200" dirty="0"/>
              <a:t>(Reader in), </a:t>
            </a:r>
            <a:r>
              <a:rPr lang="en-GB" sz="2200" dirty="0" err="1">
                <a:solidFill>
                  <a:srgbClr val="7030A0"/>
                </a:solidFill>
              </a:rPr>
              <a:t>BufferedWritter</a:t>
            </a:r>
            <a:endParaRPr lang="en-GB" sz="2200" dirty="0">
              <a:solidFill>
                <a:srgbClr val="7030A0"/>
              </a:solidFill>
            </a:endParaRPr>
          </a:p>
          <a:p>
            <a:pPr lvl="1"/>
            <a:r>
              <a:rPr lang="en-GB" sz="2200" dirty="0"/>
              <a:t>Byte Streams: </a:t>
            </a:r>
            <a:r>
              <a:rPr lang="en-GB" sz="2200" dirty="0" err="1">
                <a:solidFill>
                  <a:srgbClr val="7030A0"/>
                </a:solidFill>
              </a:rPr>
              <a:t>BufferedInputStream</a:t>
            </a:r>
            <a:r>
              <a:rPr lang="en-GB" sz="2200" dirty="0"/>
              <a:t>, </a:t>
            </a:r>
            <a:r>
              <a:rPr lang="en-GB" sz="2200" dirty="0" err="1">
                <a:solidFill>
                  <a:srgbClr val="7030A0"/>
                </a:solidFill>
              </a:rPr>
              <a:t>BufferedOutputStream</a:t>
            </a:r>
            <a:endParaRPr lang="en-GB" sz="2200" dirty="0">
              <a:solidFill>
                <a:srgbClr val="7030A0"/>
              </a:solidFill>
            </a:endParaRPr>
          </a:p>
          <a:p>
            <a:r>
              <a:rPr lang="en-GB" sz="2600" dirty="0"/>
              <a:t>Scanners</a:t>
            </a:r>
          </a:p>
          <a:p>
            <a:pPr lvl="1"/>
            <a:r>
              <a:rPr lang="en-GB" sz="2200" dirty="0"/>
              <a:t>For dealing with formatted input text (from file or console)</a:t>
            </a:r>
          </a:p>
        </p:txBody>
      </p:sp>
    </p:spTree>
    <p:extLst>
      <p:ext uri="{BB962C8B-B14F-4D97-AF65-F5344CB8AC3E}">
        <p14:creationId xmlns:p14="http://schemas.microsoft.com/office/powerpoint/2010/main" val="277993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B071-3CF2-EB75-1C04-6F2F7991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there so many different classes?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6D6D788-A797-3BC5-2251-161F40CEC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S.O.L.I.D. question!</a:t>
            </a:r>
          </a:p>
          <a:p>
            <a:pPr lvl="1"/>
            <a:r>
              <a:rPr lang="en-GB" dirty="0"/>
              <a:t>S: Single Responsibility Principle</a:t>
            </a:r>
          </a:p>
          <a:p>
            <a:pPr lvl="1"/>
            <a:r>
              <a:rPr lang="en-GB" dirty="0"/>
              <a:t>Yes, it makes things a bit more complicated to learn at first, but…</a:t>
            </a:r>
          </a:p>
          <a:p>
            <a:pPr lvl="1"/>
            <a:r>
              <a:rPr lang="en-GB" dirty="0"/>
              <a:t>This keeps the code base modular, flexible, and easy to maintain.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266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171F-DBBE-09FD-0991-015EFD0C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CD57C-5F5C-36A0-3725-28FC5E69D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to help determine if input text conforms to a desired pattern</a:t>
            </a: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1028" name="Picture 4" descr="How to Make Simple Email Validation in Javascript">
            <a:extLst>
              <a:ext uri="{FF2B5EF4-FFF2-40B4-BE49-F238E27FC236}">
                <a16:creationId xmlns:a16="http://schemas.microsoft.com/office/drawing/2014/main" id="{461A22B5-4128-98C4-2F9C-3C37AA254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332" y="2485053"/>
            <a:ext cx="7403335" cy="3620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34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E86C-0778-F683-41B0-B1C763B3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0" y="409192"/>
            <a:ext cx="10515600" cy="1325563"/>
          </a:xfrm>
        </p:spPr>
        <p:txBody>
          <a:bodyPr/>
          <a:lstStyle/>
          <a:p>
            <a:r>
              <a:rPr lang="en-GB" dirty="0"/>
              <a:t>Regular</a:t>
            </a:r>
            <a:br>
              <a:rPr lang="en-GB" dirty="0"/>
            </a:br>
            <a:r>
              <a:rPr lang="en-GB" dirty="0"/>
              <a:t>Expressions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30518B-9B10-C7ED-2DE2-72EC2C155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7937"/>
              </p:ext>
            </p:extLst>
          </p:nvPr>
        </p:nvGraphicFramePr>
        <p:xfrm>
          <a:off x="3283026" y="91440"/>
          <a:ext cx="8802478" cy="667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07501">
                  <a:extLst>
                    <a:ext uri="{9D8B030D-6E8A-4147-A177-3AD203B41FA5}">
                      <a16:colId xmlns:a16="http://schemas.microsoft.com/office/drawing/2014/main" val="188774914"/>
                    </a:ext>
                  </a:extLst>
                </a:gridCol>
                <a:gridCol w="7094977">
                  <a:extLst>
                    <a:ext uri="{9D8B030D-6E8A-4147-A177-3AD203B41FA5}">
                      <a16:colId xmlns:a16="http://schemas.microsoft.com/office/drawing/2014/main" val="3668267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dirty="0" err="1"/>
                        <a:t>RegEx</a:t>
                      </a:r>
                      <a:r>
                        <a:rPr lang="en-GB" sz="1200" dirty="0"/>
                        <a:t> 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26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A-Z, 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Individual alpha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43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Wild card (and non newline character)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44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\d, 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Any digit [0-9], And non-digit [^0-9]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689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\w, \W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Any word character (alphanumeric, and “_”), a non-word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40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\w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Any word character (alphanumeric)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476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\s, \S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Any whitespace character (space, \t, \n, \r, \f, vertical tab \v), Non-whitespace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13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Escape character – used to match things like “^” (\^), or “$” (\$)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217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OR (Pipe character)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34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Anchors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Allows you to force the position of the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58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^,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Looks for matches at the beginning/end of the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2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Character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Allows you do define your own set of characters to look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0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e.g. [</a:t>
                      </a:r>
                      <a:r>
                        <a:rPr lang="en-GB" sz="1200" dirty="0" err="1"/>
                        <a:t>abc</a:t>
                      </a:r>
                      <a:r>
                        <a:rPr lang="en-GB" sz="1200" dirty="0"/>
                        <a:t>] looks for either an “a”, “b” or “c”, [a-z&amp;&amp;[^</a:t>
                      </a:r>
                      <a:r>
                        <a:rPr lang="en-GB" sz="1200" dirty="0" err="1"/>
                        <a:t>bc</a:t>
                      </a:r>
                      <a:r>
                        <a:rPr lang="en-GB" sz="1200" dirty="0"/>
                        <a:t>]] any alpha except ”b” or “c”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74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Quantifiers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Specify the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95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*, ?,  +, {n}, {n,}, {</a:t>
                      </a:r>
                      <a:r>
                        <a:rPr lang="en-GB" sz="1200" dirty="0" err="1"/>
                        <a:t>n,m</a:t>
                      </a:r>
                      <a:r>
                        <a:rPr lang="en-GB" sz="120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0+ times, 0 or 1 times, 1+ times, exactly n times, at least n times, between n and m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28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Grouping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48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(\.com){1}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Look for exactly instance of “.com”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9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\.(</a:t>
                      </a:r>
                      <a:r>
                        <a:rPr lang="en-GB" sz="1200" dirty="0" err="1"/>
                        <a:t>com|ca</a:t>
                      </a:r>
                      <a:r>
                        <a:rPr lang="en-GB" sz="1200" dirty="0"/>
                        <a:t>){1}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Looks for either a ”.com” or “.ca” 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188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36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9AA4-9EFF-352D-5620-05CDA549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RegEx</a:t>
            </a:r>
            <a:r>
              <a:rPr lang="en-GB" dirty="0"/>
              <a:t>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7ED3-301F-C5A8-231C-AFA7396E1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RegEx</a:t>
            </a:r>
            <a:r>
              <a:rPr lang="en-GB" dirty="0"/>
              <a:t> for validating credit card numbers (just a 16 digit number)</a:t>
            </a:r>
          </a:p>
          <a:p>
            <a:pPr lvl="1"/>
            <a:r>
              <a:rPr lang="en-GB" dirty="0"/>
              <a:t>\d{16}</a:t>
            </a:r>
          </a:p>
          <a:p>
            <a:r>
              <a:rPr lang="en-GB" dirty="0"/>
              <a:t>Postal Codes: ex L5L 1C6</a:t>
            </a:r>
          </a:p>
          <a:p>
            <a:r>
              <a:rPr lang="en-GB" dirty="0"/>
              <a:t>Let’s come up with a </a:t>
            </a:r>
            <a:r>
              <a:rPr lang="en-GB" dirty="0" err="1"/>
              <a:t>RegEx</a:t>
            </a:r>
            <a:r>
              <a:rPr lang="en-GB" dirty="0"/>
              <a:t> for a Canadian phone number</a:t>
            </a:r>
          </a:p>
          <a:p>
            <a:pPr lvl="1"/>
            <a:r>
              <a:rPr lang="en-GB" dirty="0"/>
              <a:t>1-905-569-4455 vs 905-569-4455</a:t>
            </a:r>
          </a:p>
          <a:p>
            <a:pPr lvl="1"/>
            <a:r>
              <a:rPr lang="en-GB" dirty="0"/>
              <a:t>19055694455 vs 19055694455</a:t>
            </a:r>
          </a:p>
          <a:p>
            <a:pPr lvl="1"/>
            <a:r>
              <a:rPr lang="en-GB" dirty="0"/>
              <a:t>Can you try to make a single one to test all cases?</a:t>
            </a:r>
          </a:p>
        </p:txBody>
      </p:sp>
    </p:spTree>
    <p:extLst>
      <p:ext uri="{BB962C8B-B14F-4D97-AF65-F5344CB8AC3E}">
        <p14:creationId xmlns:p14="http://schemas.microsoft.com/office/powerpoint/2010/main" val="17199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9AA4-9EFF-352D-5620-05CDA549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RegEx</a:t>
            </a:r>
            <a:r>
              <a:rPr lang="en-GB" dirty="0"/>
              <a:t>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7ED3-301F-C5A8-231C-AFA7396E1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Parsing a CSV file with student marks:</a:t>
            </a:r>
          </a:p>
          <a:p>
            <a:pPr lvl="1"/>
            <a:r>
              <a:rPr lang="en-GB" dirty="0"/>
              <a:t>Name, Student Number, Grade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Will this work?: (.*),(.*),(.*)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7383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FCEC-4B35-0937-BB2B-DB5CFD77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Finite State Machines (FSMs)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E66F-A334-E7A5-5CF7-9233F44BC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37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25824</TotalTime>
  <Words>633</Words>
  <Application>Microsoft Macintosh PowerPoint</Application>
  <PresentationFormat>Widescreen</PresentationFormat>
  <Paragraphs>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Topics overview</vt:lpstr>
      <vt:lpstr>Streams</vt:lpstr>
      <vt:lpstr>Streams</vt:lpstr>
      <vt:lpstr>Why are there so many different classes?</vt:lpstr>
      <vt:lpstr>Regular Expressions</vt:lpstr>
      <vt:lpstr>Regular Expressions</vt:lpstr>
      <vt:lpstr>RegEx - Example</vt:lpstr>
      <vt:lpstr>RegEx - Example</vt:lpstr>
      <vt:lpstr>Finite State Machines (FSMs)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 Up in the first 10 mins</dc:title>
  <dc:creator>Marc De Benedetti</dc:creator>
  <cp:lastModifiedBy>Marc De Benedetti</cp:lastModifiedBy>
  <cp:revision>17</cp:revision>
  <dcterms:created xsi:type="dcterms:W3CDTF">2025-09-12T15:49:28Z</dcterms:created>
  <dcterms:modified xsi:type="dcterms:W3CDTF">2025-11-17T19:39:23Z</dcterms:modified>
</cp:coreProperties>
</file>